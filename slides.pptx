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reframes the assignment from a literal churn flag (not present in the data) to Predictive Retention via Targeted Engagement Campaigns on the UCI Bank Marketing dataset, preserving real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KPIs chosen deliberately: PR-AUC handles the 11% imbalance; EV at top-K connects the model to the business decision. Both appear on every downstream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EDA findings hold across the train set only — test data is held out for modelling. Macro and prior-outcome signals together motivate the feature set carried into the baseline and improved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leaky-vs-deployable contrast is the headline methodological signal. It shows we know what should not be in the model and why, and it gives the LightGBM step a concrete bar to 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Brier score is the load-bearing improvement: the EV calculation in the decision framework multiplies probabilities by € values, so a 54% improvement in calibration directly improves trust in the EV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earlier k=4 result was overridden after review: the fourth split was just a contact-channel rule, not a structurally distinct cluster. k=3 plus an explicit channel rule is the honest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 number: €66,400 EV on a single top-20% contact list. A pilot RCT with a 50/50 within-decile control split is required before scaling — rollout decision criteria are documented in notebook 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Sensitivity confirms the recommendation under cost/value uncertainty but flags genuine macro risk. The recession case is the dominant stress factor and the trigger for re-tuning the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Compliance has three artefacts: per-customer SHAP explanations, group-level fairness tables across age and education, and a depth-3 surrogate that can be read off as an 8-rule fallback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accelerated scaffolding and verification but did not own correctness. Two material AI errors were caught and corrected during the project; both are documented in the AI usage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286000"/>
            <a:ext cx="164592" cy="2286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4A017"/>
                </a:solidFill>
                <a:latin typeface="Calibri"/>
              </a:rPr>
              <a:t>NOVABANK  |  PROJECT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210312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F3A5F"/>
                </a:solidFill>
                <a:latin typeface="Calibri"/>
              </a:rPr>
              <a:t>Predictive Retention via Targeted
Engagement Campaigns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40233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C2C2C"/>
                </a:solidFill>
                <a:latin typeface="Calibri"/>
              </a:rPr>
              <a:t>Under a fixed contact budget, target the customers most likely to engage — capturing retention value while wasting fewer calls.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5303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Calibri"/>
              </a:rPr>
              <a:t>Quantic MSBA  |  Analytics Methods &amp; Frameworks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5669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C2C2C"/>
                </a:solidFill>
                <a:latin typeface="Calibri"/>
              </a:rPr>
              <a:t>Team: Jasper Gelten  •  Partner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Calibri"/>
              </a:rPr>
              <a:t>Problem framing and chosen KPIs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46304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2C2C2C"/>
                </a:solidFill>
                <a:latin typeface="Calibri"/>
              </a:rPr>
              <a:t>•  Margins are under pressure; outbound campaign calls deepen relationships but each call has a cost.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C2C2C"/>
                </a:solidFill>
                <a:latin typeface="Calibri"/>
              </a:rPr>
              <a:t>•  Goal: under a fixed contact budget, predict who is most likely to engage so fewer calls are wasted and more retention value is captured.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C2C2C"/>
                </a:solidFill>
                <a:latin typeface="Calibri"/>
              </a:rPr>
              <a:t>•  Subscription is treated as a retention signal — real labels, no synthetic target (UCI Bank Marketing, ~41k customers, 11.3% base rate).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C2C2C"/>
                </a:solidFill>
                <a:latin typeface="Calibri"/>
              </a:rPr>
              <a:t>•  KPI 1 — PR-AUC: primary metric under ~11% class imbalance; ROC alone overstates performance in the imbalanced regime.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2C2C2C"/>
                </a:solidFill>
                <a:latin typeface="Calibri"/>
              </a:rPr>
              <a:t>•  KPI 2 — Expected Value at top-K contacts: ties model output directly to the campaign budget and the FP/FN cost trade-off.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09090"/>
                </a:solidFill>
                <a:latin typeface="Calibri"/>
              </a:rPr>
              <a:t>Source: notebooks/01_problem_framing.ipynb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Calibri"/>
              </a:rPr>
              <a:t>Data and EDA — strongest signal: prior campaign success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46304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_eda_poutcome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1503"/>
            <a:ext cx="5394960" cy="3029234"/>
          </a:xfrm>
          <a:prstGeom prst="rect">
            <a:avLst/>
          </a:prstGeom>
        </p:spPr>
      </p:pic>
      <p:pic>
        <p:nvPicPr>
          <p:cNvPr id="5" name="Picture 4" descr="03_eda_euribor3m_dec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33477"/>
            <a:ext cx="5394960" cy="30252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34924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2C2C2C"/>
                </a:solidFill>
                <a:latin typeface="Calibri"/>
              </a:rPr>
              <a:t>•  Prior campaign success (poutcome=success) is the single strongest lift signal — a customer who said yes before is the best prospect.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C2C2C"/>
                </a:solidFill>
                <a:latin typeface="Calibri"/>
              </a:rPr>
              <a:t>•  Macro context matters: low euribor3m periods coincide with higher deposit conversion (deciles 1–3 carry most of the positives).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C2C2C"/>
                </a:solidFill>
                <a:latin typeface="Calibri"/>
              </a:rPr>
              <a:t>•  Train-only EDA; test parquet untouched. 12 figures saved with 03_eda_* prefix support the full narrative.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09090"/>
                </a:solidFill>
                <a:latin typeface="Calibri"/>
              </a:rPr>
              <a:t>Source: notebooks/03_eda.ipynb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Calibri"/>
              </a:rPr>
              <a:t>Modelling approach — leakage discipline first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46304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4_baseline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91046"/>
            <a:ext cx="6583680" cy="23159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23444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 Two models built deliberately: a leaky benchmark (uses call duration, known only post-call) and a deployable model (no leak).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 Leaky ROC 0.944 vs. deployable ROC 0.801 — a 0.143 gap that quantifies the cost of using a feature you cannot have at decision time.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 Deployable line is the production baseline; LightGBM is then introduced to clear that bar via Optuna tuning and isotonic calibration.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 Calibration is non-negotiable: every downstream EV figure multiplies probability by money — miscalibrated scores distort the recommendation.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09090"/>
                </a:solidFill>
                <a:latin typeface="Calibri"/>
              </a:rPr>
              <a:t>Source: notebooks/04_baseline_model.ipynb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Calibri"/>
              </a:rPr>
              <a:t>Model performance — calibrated LightGBM clears the bar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46304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64008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42672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Brier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Logistic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0.460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0.801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0.162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LightGBM (calibrated)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0.495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0.817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0.074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05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88156"/>
            <a:ext cx="4572000" cy="3115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83464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 LightGBM lifts PR-AUC from 0.460 to 0.495 over the logistic baseline and cuts Brier score by 54% (0.162 → 0.074).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 Reliability diagram (right) confirms predicted probabilities track observed frequencies across the score range.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 Calibrated probabilities make the €/contact EV math defensible for the decision rule on the next slide.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09090"/>
                </a:solidFill>
                <a:latin typeface="Calibri"/>
              </a:rPr>
              <a:t>Source: notebooks/05_improved_model.ipynb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Calibri"/>
              </a:rPr>
              <a:t>Customer segmentation — three structural cohorts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46304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10642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38862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Segment (campaign tier)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Conversion rate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Avg age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Dominant channel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Mean euribor3m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warm_returners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1,243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62.9%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41.8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cellular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0.98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engaged_cellular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9,613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19.2%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39.4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cellular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1.20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cold_pool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22,094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40.2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cellular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2C2C"/>
                          </a:solidFill>
                          <a:latin typeface="Calibri"/>
                        </a:rPr>
                        <a:t>4.82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200400"/>
            <a:ext cx="11064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 warm_returners (n=1,243, 63% conversion): prior-success base; the first call list — almost guaranteed wins.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 engaged_cellular (n=9,613, 19% conversion): mid-tier mobile-reachable customers; the volume slice that the LightGBM ranks within.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 cold_pool (n=22,094, 5% conversion): low-probability mass; split deterministically by channel into cold_cellular and cold_telephone.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 k=3 chosen via silhouette + elbow; the channel split is an explicit operational rule, not a fourth cluster — methodology is openly hybrid.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09090"/>
                </a:solidFill>
                <a:latin typeface="Calibri"/>
              </a:rPr>
              <a:t>Source: notebooks/06_segmentation.ipynb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Calibri"/>
              </a:rPr>
              <a:t>Decision rule — top-20% contact policy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46304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7_decision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15429"/>
            <a:ext cx="6949440" cy="21757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234440"/>
            <a:ext cx="4023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 Threshold: probability ≥ 0.094 (top 20% of scored customers).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 Contacts: 1,648. Successful: 622. Wasted: 1,026.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 Expected value: €66,400 at €5/contact, €120/conversion.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 Top decile lift: 4.75× vs. base — 47% of converters captured in 10% of contacts.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 Budget-constrained rule chosen over EV-max: predictable capacity planning across scoring cycles, even as the score distribution shifts.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09090"/>
                </a:solidFill>
                <a:latin typeface="Calibri"/>
              </a:rPr>
              <a:t>Source: notebooks/07_decision_framework.ipynb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Calibri"/>
              </a:rPr>
              <a:t>Sensitivity — what holds and what shifts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46304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8_sensitivit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7216"/>
            <a:ext cx="5394960" cy="3380608"/>
          </a:xfrm>
          <a:prstGeom prst="rect">
            <a:avLst/>
          </a:prstGeom>
        </p:spPr>
      </p:pic>
      <p:pic>
        <p:nvPicPr>
          <p:cNvPr id="5" name="Picture 4" descr="08_sensitivity_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30192"/>
            <a:ext cx="5394960" cy="19746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84632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 Holds: every cell of the 4×4 cost/value grid (€2.5–€20/call × €60–€300/conversion) returns positive EV — recommendation direction is robust to plausible business-assumption changes.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 Shifts: a recession scenario (base rate halved 11.3% → 5.9%) cuts EV to €30,855 — still positive but ~54% lower.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 Risk to flag: campaign economics depend on macro stability; revisit the threshold if observed base rate moves more than 2 percentage points.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09090"/>
                </a:solidFill>
                <a:latin typeface="Calibri"/>
              </a:rPr>
              <a:t>Source: notebooks/08_sensitivity_analysis.ipynb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Calibri"/>
              </a:rPr>
              <a:t>Explainability and fairness — defensible to compliance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46304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9_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056" y="1234440"/>
            <a:ext cx="5206847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234440"/>
            <a:ext cx="4297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2C2C2C"/>
                </a:solidFill>
                <a:latin typeface="Calibri"/>
              </a:rPr>
              <a:t>•  Top SHAP drivers: nr.employed, was_previously_contacted, euribor3m — macro state plus prior engagement, no proxy variables.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C2C2C"/>
                </a:solidFill>
                <a:latin typeface="Calibri"/>
              </a:rPr>
              <a:t>•  Fairness: 60+ band converts at 45.7% vs. ~10% for working-age — a structural signal, not bias. Model mean_predicted 46.7% matches actual within 1pp.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C2C2C"/>
                </a:solidFill>
                <a:latin typeface="Calibri"/>
              </a:rPr>
              <a:t>•  Top-20% contact rate by age band is reported as observation, not verdict; small subgroups (illiterate n=2) flagged with caveats.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C2C2C"/>
                </a:solidFill>
                <a:latin typeface="Calibri"/>
              </a:rPr>
              <a:t>•  Surrogate fallback: depth-3 decision tree, 8 leaves, R² 0.877 vs. LightGBM scores — usable as a documented manual ruleset if the model is unavailable.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09090"/>
                </a:solidFill>
                <a:latin typeface="Calibri"/>
              </a:rPr>
              <a:t>Source: notebooks/09_explainability_and_fairness.ipynb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Calibri"/>
              </a:rPr>
              <a:t>AI usage and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46304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Calibri"/>
              </a:rPr>
              <a:t>How AI was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 Claude Code used for notebook scaffolding, code generation, debugging loops, and figure/table drafting — never for the final numeric claims.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 Every numerical claim on the deck traces to a CSV under outputs/tables/ and was re-verified after each notebook re-run.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 Human review caught two material errors AI made: a silent duration leakage bug in the preprocessor, and an incorrect k=4 segmentation choice that was overridden to k=3 plus an explicit channel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Calibri"/>
              </a:rPr>
              <a:t>Limitations of the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 Dataset is the 2008–2010 Portuguese bank campaign; macro features (euribor3m, nr.employed) reflect that rate regime and may not generalise to current conditions.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2C2C2C"/>
                </a:solidFill>
                <a:latin typeface="Calibri"/>
              </a:rPr>
              <a:t>•  No concurrent control group exists in the historical data — the 60/30/30-day pilot RCT in notebook 07 is required before scaling.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09090"/>
                </a:solidFill>
                <a:latin typeface="Calibri"/>
              </a:rPr>
              <a:t>Source: notebooks/../ai_usage_log.md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